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Playfair Display" panose="00000500000000000000" pitchFamily="2" charset="0"/>
      <p:regular r:id="rId12"/>
      <p:bold r:id="rId13"/>
      <p:italic r:id="rId14"/>
      <p:boldItalic r:id="rId15"/>
    </p:embeddedFont>
    <p:embeddedFont>
      <p:font typeface="Public Sans" panose="020B0604020202020204" charset="0"/>
      <p:regular r:id="rId16"/>
    </p:embeddedFont>
    <p:embeddedFont>
      <p:font typeface="Public Sans 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E50BE5-B0C9-4446-A899-3039294362EB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F1A827-AE1A-46EC-B733-65B7F71E47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092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F1A827-AE1A-46EC-B733-65B7F71E47DB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1088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706" y="4514765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1006882" y="4728792"/>
            <a:ext cx="16230600" cy="65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b="1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NPS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50974" y="3681170"/>
            <a:ext cx="16408332" cy="735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6000" spc="3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Análise de Satisfação do Cliente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16407" y="8041005"/>
            <a:ext cx="7862435" cy="1303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Alfeson Luiz Araujo de Macedo</a:t>
            </a:r>
          </a:p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Fabio Luis Amaro de Lima Silva Santana</a:t>
            </a:r>
          </a:p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Letícia Alves de Sena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16407" y="2162495"/>
            <a:ext cx="16242893" cy="228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0"/>
              </a:lnSpc>
            </a:pPr>
            <a:r>
              <a:rPr lang="en-US" sz="3500" spc="17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No contexto de e-commerce, a experiência do cliente é um fator crítico para retenção e crescimento. A empresa enfrenta desafios relacionados à satisfação dos clientes, evidenciados por um NPS baixo, o que pode impactar recompra, reputação e competitividade no mercado.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06871" y="942975"/>
            <a:ext cx="16230600" cy="65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b="1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CONTEXTO DO PROBLEMA</a:t>
            </a:r>
          </a:p>
        </p:txBody>
      </p:sp>
      <p:sp>
        <p:nvSpPr>
          <p:cNvPr id="4" name="AutoShape 4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06871" y="942975"/>
            <a:ext cx="16230600" cy="60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b="1" spc="843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PERGUNTA QUE A ANÁLISE BUSCA RESPONDER</a:t>
            </a:r>
          </a:p>
        </p:txBody>
      </p:sp>
      <p:sp>
        <p:nvSpPr>
          <p:cNvPr id="3" name="AutoShape 3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006871" y="2416324"/>
            <a:ext cx="16511766" cy="1704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Quais fatores mais impactam a satisfação do cliente e o que leva clientes a se tornarem detratores?</a:t>
            </a:r>
          </a:p>
          <a:p>
            <a:pPr algn="l">
              <a:lnSpc>
                <a:spcPts val="4500"/>
              </a:lnSpc>
            </a:pPr>
            <a:endParaRPr lang="en-US" sz="3000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-7086597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11223669" y="3468796"/>
            <a:ext cx="3225053" cy="3349409"/>
          </a:xfrm>
          <a:custGeom>
            <a:avLst/>
            <a:gdLst/>
            <a:ahLst/>
            <a:cxnLst/>
            <a:rect l="l" t="t" r="r" b="b"/>
            <a:pathLst>
              <a:path w="3225053" h="3349409">
                <a:moveTo>
                  <a:pt x="0" y="0"/>
                </a:moveTo>
                <a:lnTo>
                  <a:pt x="3225053" y="0"/>
                </a:lnTo>
                <a:lnTo>
                  <a:pt x="3225053" y="3349408"/>
                </a:lnTo>
                <a:lnTo>
                  <a:pt x="0" y="33494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06871" y="942975"/>
            <a:ext cx="16230600" cy="65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b="1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PRINCIPAIS INSIGHTS (EDA)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79521" y="2454311"/>
            <a:ext cx="9299536" cy="6029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1425" lvl="1" indent="-290713" algn="l">
              <a:lnSpc>
                <a:spcPts val="4039"/>
              </a:lnSpc>
              <a:buFont typeface="Arial"/>
              <a:buChar char="•"/>
            </a:pPr>
            <a:r>
              <a:rPr lang="en-US" sz="2693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NPS médio baixo indica predominância de clientes insatisfeitos</a:t>
            </a:r>
          </a:p>
          <a:p>
            <a:pPr algn="l">
              <a:lnSpc>
                <a:spcPts val="4039"/>
              </a:lnSpc>
            </a:pPr>
            <a:endParaRPr lang="en-US" sz="2693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581425" lvl="1" indent="-290713" algn="l">
              <a:lnSpc>
                <a:spcPts val="4039"/>
              </a:lnSpc>
              <a:buFont typeface="Arial"/>
              <a:buChar char="•"/>
            </a:pPr>
            <a:r>
              <a:rPr lang="en-US" sz="2693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Atrasos são frequentes e impactam diretamente a experiência</a:t>
            </a:r>
          </a:p>
          <a:p>
            <a:pPr algn="l">
              <a:lnSpc>
                <a:spcPts val="4039"/>
              </a:lnSpc>
            </a:pPr>
            <a:endParaRPr lang="en-US" sz="2693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581425" lvl="1" indent="-290713" algn="l">
              <a:lnSpc>
                <a:spcPts val="4039"/>
              </a:lnSpc>
              <a:buFont typeface="Arial"/>
              <a:buChar char="•"/>
            </a:pPr>
            <a:r>
              <a:rPr lang="en-US" sz="2693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Existe um efeito cascata: atraso → reclamação → suporte → demora → insatisfação</a:t>
            </a:r>
          </a:p>
          <a:p>
            <a:pPr algn="l">
              <a:lnSpc>
                <a:spcPts val="4039"/>
              </a:lnSpc>
            </a:pPr>
            <a:endParaRPr lang="en-US" sz="2693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581425" lvl="1" indent="-290713" algn="l">
              <a:lnSpc>
                <a:spcPts val="4039"/>
              </a:lnSpc>
              <a:buFont typeface="Arial"/>
              <a:buChar char="•"/>
            </a:pPr>
            <a:r>
              <a:rPr lang="en-US" sz="2693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Fatores como idade, frete e desconto não são relevantes</a:t>
            </a:r>
          </a:p>
          <a:p>
            <a:pPr algn="l">
              <a:lnSpc>
                <a:spcPts val="4039"/>
              </a:lnSpc>
            </a:pPr>
            <a:endParaRPr lang="en-US" sz="2693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691019" y="3220561"/>
            <a:ext cx="3773952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Atraso na entrega: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36843" y="3220561"/>
            <a:ext cx="4112927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Número de reclamações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629373" y="3220561"/>
            <a:ext cx="4316259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Contatos com suporte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06871" y="942975"/>
            <a:ext cx="16230600" cy="65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b="1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FATORES CRÍTICOS PARA SATISFAÇÃO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971741" y="3220561"/>
            <a:ext cx="4316259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Tempo de resolução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91019" y="4245944"/>
            <a:ext cx="3149024" cy="71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75% dos pedidos têm até 3 dias de atraso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91019" y="5454984"/>
            <a:ext cx="3149024" cy="1063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 partir de ~3 dias de atraso, ocorre um ponto de ruptura na experiência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161098" y="4245944"/>
            <a:ext cx="3149024" cy="1416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Mediana de 4 reclamações</a:t>
            </a: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161098" y="5359734"/>
            <a:ext cx="3149024" cy="71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 máximo de reclamações registradas ultrapassou 10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72950" y="4245944"/>
            <a:ext cx="3149024" cy="71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Alto volume indica maior esforço do cliente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72950" y="5477781"/>
            <a:ext cx="3149024" cy="1063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Mais contatos → menor satisfação</a:t>
            </a: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4121589" y="4245944"/>
            <a:ext cx="3149024" cy="71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Resolução lenta prolonga a experiência negativa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121589" y="5454984"/>
            <a:ext cx="3149024" cy="1416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Demora aumenta a chance de insatisfação</a:t>
            </a: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60191" y="441274"/>
            <a:ext cx="7273309" cy="2630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b="1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RECOMENDAÇÕES PARA O NEGÓCIO</a:t>
            </a:r>
          </a:p>
          <a:p>
            <a:pPr algn="l">
              <a:lnSpc>
                <a:spcPts val="5200"/>
              </a:lnSpc>
              <a:spcBef>
                <a:spcPct val="0"/>
              </a:spcBef>
            </a:pPr>
            <a:endParaRPr lang="en-US" sz="3714" b="1" spc="843">
              <a:solidFill>
                <a:srgbClr val="2B2C30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  <a:p>
            <a:pPr algn="l">
              <a:lnSpc>
                <a:spcPts val="5200"/>
              </a:lnSpc>
              <a:spcBef>
                <a:spcPct val="0"/>
              </a:spcBef>
            </a:pPr>
            <a:endParaRPr lang="en-US" sz="3714" b="1" spc="843">
              <a:solidFill>
                <a:srgbClr val="2B2C30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</p:txBody>
      </p:sp>
      <p:sp>
        <p:nvSpPr>
          <p:cNvPr id="3" name="AutoShape 3"/>
          <p:cNvSpPr/>
          <p:nvPr/>
        </p:nvSpPr>
        <p:spPr>
          <a:xfrm flipV="1">
            <a:off x="-7086597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3563600" y="1409700"/>
            <a:ext cx="1824547" cy="1824547"/>
          </a:xfrm>
          <a:custGeom>
            <a:avLst/>
            <a:gdLst/>
            <a:ahLst/>
            <a:cxnLst/>
            <a:rect l="l" t="t" r="r" b="b"/>
            <a:pathLst>
              <a:path w="1824547" h="1824547">
                <a:moveTo>
                  <a:pt x="0" y="0"/>
                </a:moveTo>
                <a:lnTo>
                  <a:pt x="1824547" y="0"/>
                </a:lnTo>
                <a:lnTo>
                  <a:pt x="1824547" y="1824546"/>
                </a:lnTo>
                <a:lnTo>
                  <a:pt x="0" y="18245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972063" y="2748345"/>
            <a:ext cx="2085026" cy="2831516"/>
          </a:xfrm>
          <a:custGeom>
            <a:avLst/>
            <a:gdLst/>
            <a:ahLst/>
            <a:cxnLst/>
            <a:rect l="l" t="t" r="r" b="b"/>
            <a:pathLst>
              <a:path w="2085026" h="2831516">
                <a:moveTo>
                  <a:pt x="0" y="0"/>
                </a:moveTo>
                <a:lnTo>
                  <a:pt x="2085026" y="0"/>
                </a:lnTo>
                <a:lnTo>
                  <a:pt x="2085026" y="2831517"/>
                </a:lnTo>
                <a:lnTo>
                  <a:pt x="0" y="28315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858254" y="2643570"/>
            <a:ext cx="7575246" cy="5263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4399" lvl="1" indent="-332199" algn="l">
              <a:lnSpc>
                <a:spcPts val="4616"/>
              </a:lnSpc>
              <a:buFont typeface="Arial"/>
              <a:buChar char="•"/>
            </a:pPr>
            <a:r>
              <a:rPr lang="en-US" sz="3077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Reduzir atrasos na entrega </a:t>
            </a:r>
          </a:p>
          <a:p>
            <a:pPr algn="l">
              <a:lnSpc>
                <a:spcPts val="4616"/>
              </a:lnSpc>
            </a:pPr>
            <a:endParaRPr lang="en-US" sz="3077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664399" lvl="1" indent="-332199" algn="l">
              <a:lnSpc>
                <a:spcPts val="4616"/>
              </a:lnSpc>
              <a:buFont typeface="Arial"/>
              <a:buChar char="•"/>
            </a:pPr>
            <a:r>
              <a:rPr lang="en-US" sz="3077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Atuar preventivamente em pedidos com risco de falha</a:t>
            </a:r>
          </a:p>
          <a:p>
            <a:pPr algn="l">
              <a:lnSpc>
                <a:spcPts val="4616"/>
              </a:lnSpc>
            </a:pPr>
            <a:endParaRPr lang="en-US" sz="3077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664399" lvl="1" indent="-332199" algn="l">
              <a:lnSpc>
                <a:spcPts val="4616"/>
              </a:lnSpc>
              <a:buFont typeface="Arial"/>
              <a:buChar char="•"/>
            </a:pPr>
            <a:r>
              <a:rPr lang="en-US" sz="3077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Diminuir tempo de resolução</a:t>
            </a:r>
          </a:p>
          <a:p>
            <a:pPr algn="l">
              <a:lnSpc>
                <a:spcPts val="4616"/>
              </a:lnSpc>
            </a:pPr>
            <a:endParaRPr lang="en-US" sz="3077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664399" lvl="1" indent="-332199" algn="l">
              <a:lnSpc>
                <a:spcPts val="4616"/>
              </a:lnSpc>
              <a:buFont typeface="Arial"/>
              <a:buChar char="•"/>
            </a:pPr>
            <a:r>
              <a:rPr lang="en-US" sz="3077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Melhorar eficiência do atendimento</a:t>
            </a:r>
          </a:p>
          <a:p>
            <a:pPr algn="l">
              <a:lnSpc>
                <a:spcPts val="4616"/>
              </a:lnSpc>
            </a:pPr>
            <a:endParaRPr lang="en-US" sz="3077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-7086597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1006871" y="942975"/>
            <a:ext cx="16230600" cy="65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b="1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LIMITAÇÕES E RISCOS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13412" y="3810000"/>
            <a:ext cx="6747090" cy="2667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Possíveis</a:t>
            </a:r>
            <a:r>
              <a:rPr lang="en-US" sz="30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0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fatores</a:t>
            </a:r>
            <a:r>
              <a:rPr lang="en-US" sz="30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0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não</a:t>
            </a:r>
            <a:r>
              <a:rPr lang="en-US" sz="30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0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capturados</a:t>
            </a:r>
            <a:r>
              <a:rPr lang="en-US" sz="30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(ex: </a:t>
            </a:r>
            <a:r>
              <a:rPr lang="en-US" sz="30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qualidade</a:t>
            </a:r>
            <a:r>
              <a:rPr lang="en-US" sz="30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do </a:t>
            </a:r>
            <a:r>
              <a:rPr lang="en-US" sz="30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produto</a:t>
            </a:r>
            <a:r>
              <a:rPr lang="en-US" sz="30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)</a:t>
            </a:r>
          </a:p>
          <a:p>
            <a:pPr algn="l">
              <a:lnSpc>
                <a:spcPts val="4200"/>
              </a:lnSpc>
            </a:pPr>
            <a:endParaRPr lang="en-US" sz="3000" dirty="0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algn="l">
              <a:lnSpc>
                <a:spcPts val="4200"/>
              </a:lnSpc>
            </a:pPr>
            <a:endParaRPr lang="en-US" sz="3000" dirty="0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algn="l">
              <a:lnSpc>
                <a:spcPts val="4200"/>
              </a:lnSpc>
            </a:pPr>
            <a:endParaRPr lang="en-US" sz="3000" dirty="0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713412" y="5676900"/>
            <a:ext cx="6747090" cy="160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Necessidade</a:t>
            </a:r>
            <a:r>
              <a:rPr lang="en-US" sz="30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de </a:t>
            </a:r>
            <a:r>
              <a:rPr lang="en-US" sz="30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monitoramento</a:t>
            </a:r>
            <a:r>
              <a:rPr lang="en-US" sz="30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0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contínuo</a:t>
            </a:r>
            <a:r>
              <a:rPr lang="en-US" sz="30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para </a:t>
            </a:r>
            <a:r>
              <a:rPr lang="en-US" sz="30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validar</a:t>
            </a:r>
            <a:r>
              <a:rPr lang="en-US" sz="30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0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decisões</a:t>
            </a:r>
            <a:endParaRPr lang="en-US" sz="3000" dirty="0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algn="l">
              <a:lnSpc>
                <a:spcPts val="4200"/>
              </a:lnSpc>
            </a:pPr>
            <a:endParaRPr lang="en-US" sz="3000" dirty="0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10170271" y="2188061"/>
            <a:ext cx="4508247" cy="4114800"/>
          </a:xfrm>
          <a:custGeom>
            <a:avLst/>
            <a:gdLst/>
            <a:ahLst/>
            <a:cxnLst/>
            <a:rect l="l" t="t" r="r" b="b"/>
            <a:pathLst>
              <a:path w="4508247" h="4114800">
                <a:moveTo>
                  <a:pt x="0" y="0"/>
                </a:moveTo>
                <a:lnTo>
                  <a:pt x="4508247" y="0"/>
                </a:lnTo>
                <a:lnTo>
                  <a:pt x="45082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16407" y="2162495"/>
            <a:ext cx="15953207" cy="328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3999" spc="1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 satisfação do cliente é fortemente determinada pela execução operacional. Melhorias na logística e no atendimento têm o maior potencial de impacto no NPS, influenciando diretamente recompra, reputação e crescimento do negócio.</a:t>
            </a:r>
          </a:p>
          <a:p>
            <a:pPr algn="l">
              <a:lnSpc>
                <a:spcPts val="5199"/>
              </a:lnSpc>
            </a:pPr>
            <a:endParaRPr lang="en-US" sz="3999" spc="19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06871" y="942975"/>
            <a:ext cx="16230600" cy="65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b="1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MENSAGEM FINAL</a:t>
            </a:r>
          </a:p>
        </p:txBody>
      </p:sp>
      <p:sp>
        <p:nvSpPr>
          <p:cNvPr id="4" name="AutoShape 4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706" y="4514765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850974" y="2332416"/>
            <a:ext cx="16408332" cy="2084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50"/>
              </a:lnSpc>
            </a:pPr>
            <a:r>
              <a:rPr lang="en-US" sz="16758" spc="83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Obrigado!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16407" y="8041005"/>
            <a:ext cx="7862435" cy="1303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Alfeson Luiz Araujo de Macedo</a:t>
            </a:r>
          </a:p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Fabio Luis Amaro de Lima Silva Santana</a:t>
            </a:r>
          </a:p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Letícia Alves de Sena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322</Words>
  <Application>Microsoft Office PowerPoint</Application>
  <PresentationFormat>Personalizar</PresentationFormat>
  <Paragraphs>49</Paragraphs>
  <Slides>9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6" baseType="lpstr">
      <vt:lpstr>Public Sans Bold</vt:lpstr>
      <vt:lpstr>Arial</vt:lpstr>
      <vt:lpstr>Playfair Display</vt:lpstr>
      <vt:lpstr>Calibri</vt:lpstr>
      <vt:lpstr>Public Sans</vt:lpstr>
      <vt:lpstr>Aptos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Análise de Satisfação do Cliente</dc:title>
  <dc:creator>Fabio Luis</dc:creator>
  <cp:lastModifiedBy>Fabio Luis</cp:lastModifiedBy>
  <cp:revision>2</cp:revision>
  <dcterms:created xsi:type="dcterms:W3CDTF">2006-08-16T00:00:00Z</dcterms:created>
  <dcterms:modified xsi:type="dcterms:W3CDTF">2026-05-05T02:50:10Z</dcterms:modified>
  <dc:identifier>DAHIRwahyzA</dc:identifier>
</cp:coreProperties>
</file>